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73" r:id="rId4"/>
    <p:sldId id="260" r:id="rId5"/>
    <p:sldId id="271" r:id="rId6"/>
    <p:sldId id="283" r:id="rId7"/>
    <p:sldId id="281" r:id="rId8"/>
    <p:sldId id="287" r:id="rId9"/>
    <p:sldId id="261" r:id="rId10"/>
    <p:sldId id="268" r:id="rId11"/>
    <p:sldId id="284" r:id="rId12"/>
    <p:sldId id="274" r:id="rId13"/>
    <p:sldId id="262" r:id="rId14"/>
    <p:sldId id="278" r:id="rId15"/>
    <p:sldId id="279" r:id="rId16"/>
    <p:sldId id="275" r:id="rId17"/>
    <p:sldId id="276" r:id="rId18"/>
    <p:sldId id="277" r:id="rId19"/>
    <p:sldId id="286" r:id="rId20"/>
    <p:sldId id="266" r:id="rId21"/>
    <p:sldId id="267" r:id="rId22"/>
  </p:sldIdLst>
  <p:sldSz cx="9906000" cy="6858000" type="A4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uxkUHzEEBQb45tIBOtUrgvat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04642-ACE7-4197-9078-296951B1A394}" v="57" dt="2026-05-21T08:50:26.626"/>
  </p1510:revLst>
</p1510:revInfo>
</file>

<file path=ppt/tableStyles.xml><?xml version="1.0" encoding="utf-8"?>
<a:tblStyleLst xmlns:a="http://schemas.openxmlformats.org/drawingml/2006/main" def="{9B3D1C26-BEBA-40EB-B880-04AE644533D2}">
  <a:tblStyle styleId="{9B3D1C26-BEBA-40EB-B880-04AE644533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6D2E3C-A018-442B-BF50-C8C78C53AD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06" y="43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2"/>
        <p:guide pos="213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es Sundar Manna" userId="03c5f2707fcb9447" providerId="LiveId" clId="{15CE8657-A2F8-4CE0-BFE9-0672E56668C5}"/>
    <pc:docChg chg="undo custSel addSld delSld modSld">
      <pc:chgData name="Sives Sundar Manna" userId="03c5f2707fcb9447" providerId="LiveId" clId="{15CE8657-A2F8-4CE0-BFE9-0672E56668C5}" dt="2026-06-03T06:42:26.571" v="1025" actId="20577"/>
      <pc:docMkLst>
        <pc:docMk/>
      </pc:docMkLst>
      <pc:sldChg chg="modSp mod">
        <pc:chgData name="Sives Sundar Manna" userId="03c5f2707fcb9447" providerId="LiveId" clId="{15CE8657-A2F8-4CE0-BFE9-0672E56668C5}" dt="2026-06-03T06:42:00.271" v="1024" actId="20577"/>
        <pc:sldMkLst>
          <pc:docMk/>
          <pc:sldMk cId="0" sldId="256"/>
        </pc:sldMkLst>
        <pc:spChg chg="mod">
          <ac:chgData name="Sives Sundar Manna" userId="03c5f2707fcb9447" providerId="LiveId" clId="{15CE8657-A2F8-4CE0-BFE9-0672E56668C5}" dt="2026-06-03T06:42:00.271" v="1024" actId="20577"/>
          <ac:spMkLst>
            <pc:docMk/>
            <pc:sldMk cId="0" sldId="256"/>
            <ac:spMk id="93" creationId="{00000000-0000-0000-0000-000000000000}"/>
          </ac:spMkLst>
        </pc:spChg>
        <pc:spChg chg="mod">
          <ac:chgData name="Sives Sundar Manna" userId="03c5f2707fcb9447" providerId="LiveId" clId="{15CE8657-A2F8-4CE0-BFE9-0672E56668C5}" dt="2026-06-03T06:25:21.973" v="1020" actId="20577"/>
          <ac:spMkLst>
            <pc:docMk/>
            <pc:sldMk cId="0" sldId="256"/>
            <ac:spMk id="95" creationId="{00000000-0000-0000-0000-000000000000}"/>
          </ac:spMkLst>
        </pc:spChg>
        <pc:graphicFrameChg chg="mod modGraphic">
          <ac:chgData name="Sives Sundar Manna" userId="03c5f2707fcb9447" providerId="LiveId" clId="{15CE8657-A2F8-4CE0-BFE9-0672E56668C5}" dt="2026-05-21T07:47:05.995" v="421" actId="2165"/>
          <ac:graphicFrameMkLst>
            <pc:docMk/>
            <pc:sldMk cId="0" sldId="256"/>
            <ac:graphicFrameMk id="101" creationId="{00000000-0000-0000-0000-000000000000}"/>
          </ac:graphicFrameMkLst>
        </pc:graphicFrameChg>
      </pc:sldChg>
      <pc:sldChg chg="modSp mod">
        <pc:chgData name="Sives Sundar Manna" userId="03c5f2707fcb9447" providerId="LiveId" clId="{15CE8657-A2F8-4CE0-BFE9-0672E56668C5}" dt="2026-06-03T06:42:26.571" v="1025" actId="20577"/>
        <pc:sldMkLst>
          <pc:docMk/>
          <pc:sldMk cId="0" sldId="260"/>
        </pc:sldMkLst>
        <pc:spChg chg="mod">
          <ac:chgData name="Sives Sundar Manna" userId="03c5f2707fcb9447" providerId="LiveId" clId="{15CE8657-A2F8-4CE0-BFE9-0672E56668C5}" dt="2026-06-03T06:42:26.571" v="1025" actId="20577"/>
          <ac:spMkLst>
            <pc:docMk/>
            <pc:sldMk cId="0" sldId="260"/>
            <ac:spMk id="120" creationId="{00000000-0000-0000-0000-000000000000}"/>
          </ac:spMkLst>
        </pc:spChg>
      </pc:sldChg>
      <pc:sldChg chg="modSp mod">
        <pc:chgData name="Sives Sundar Manna" userId="03c5f2707fcb9447" providerId="LiveId" clId="{15CE8657-A2F8-4CE0-BFE9-0672E56668C5}" dt="2026-05-21T08:03:30.504" v="609" actId="20577"/>
        <pc:sldMkLst>
          <pc:docMk/>
          <pc:sldMk cId="0" sldId="261"/>
        </pc:sldMkLst>
        <pc:spChg chg="mod">
          <ac:chgData name="Sives Sundar Manna" userId="03c5f2707fcb9447" providerId="LiveId" clId="{15CE8657-A2F8-4CE0-BFE9-0672E56668C5}" dt="2026-05-21T08:03:30.504" v="609" actId="20577"/>
          <ac:spMkLst>
            <pc:docMk/>
            <pc:sldMk cId="0" sldId="261"/>
            <ac:spMk id="126" creationId="{00000000-0000-0000-0000-000000000000}"/>
          </ac:spMkLst>
        </pc:spChg>
      </pc:sldChg>
      <pc:sldChg chg="addSp delSp modSp mod modClrScheme chgLayout">
        <pc:chgData name="Sives Sundar Manna" userId="03c5f2707fcb9447" providerId="LiveId" clId="{15CE8657-A2F8-4CE0-BFE9-0672E56668C5}" dt="2026-05-21T08:19:12.008" v="813" actId="20577"/>
        <pc:sldMkLst>
          <pc:docMk/>
          <pc:sldMk cId="0" sldId="262"/>
        </pc:sldMkLst>
        <pc:spChg chg="add mod ord">
          <ac:chgData name="Sives Sundar Manna" userId="03c5f2707fcb9447" providerId="LiveId" clId="{15CE8657-A2F8-4CE0-BFE9-0672E56668C5}" dt="2026-05-21T08:18:53.702" v="783" actId="14100"/>
          <ac:spMkLst>
            <pc:docMk/>
            <pc:sldMk cId="0" sldId="262"/>
            <ac:spMk id="5" creationId="{D3014954-1599-F5EE-5B2F-AAE0007C23C9}"/>
          </ac:spMkLst>
        </pc:spChg>
        <pc:spChg chg="add mod ord">
          <ac:chgData name="Sives Sundar Manna" userId="03c5f2707fcb9447" providerId="LiveId" clId="{15CE8657-A2F8-4CE0-BFE9-0672E56668C5}" dt="2026-05-21T08:17:50.617" v="766" actId="14100"/>
          <ac:spMkLst>
            <pc:docMk/>
            <pc:sldMk cId="0" sldId="262"/>
            <ac:spMk id="6" creationId="{7EF336D4-1336-06EE-CDF1-FE275443E025}"/>
          </ac:spMkLst>
        </pc:spChg>
        <pc:spChg chg="mod ord">
          <ac:chgData name="Sives Sundar Manna" userId="03c5f2707fcb9447" providerId="LiveId" clId="{15CE8657-A2F8-4CE0-BFE9-0672E56668C5}" dt="2026-05-21T08:19:12.008" v="813" actId="20577"/>
          <ac:spMkLst>
            <pc:docMk/>
            <pc:sldMk cId="0" sldId="262"/>
            <ac:spMk id="131" creationId="{00000000-0000-0000-0000-000000000000}"/>
          </ac:spMkLst>
        </pc:spChg>
      </pc:sldChg>
      <pc:sldChg chg="modSp mod">
        <pc:chgData name="Sives Sundar Manna" userId="03c5f2707fcb9447" providerId="LiveId" clId="{15CE8657-A2F8-4CE0-BFE9-0672E56668C5}" dt="2026-05-21T08:50:42.881" v="1013" actId="14100"/>
        <pc:sldMkLst>
          <pc:docMk/>
          <pc:sldMk cId="0" sldId="266"/>
        </pc:sldMkLst>
        <pc:spChg chg="mod">
          <ac:chgData name="Sives Sundar Manna" userId="03c5f2707fcb9447" providerId="LiveId" clId="{15CE8657-A2F8-4CE0-BFE9-0672E56668C5}" dt="2026-05-21T08:50:42.881" v="1013" actId="14100"/>
          <ac:spMkLst>
            <pc:docMk/>
            <pc:sldMk cId="0" sldId="266"/>
            <ac:spMk id="2" creationId="{540C2E43-AB03-6032-9D6A-F2DBDC931320}"/>
          </ac:spMkLst>
        </pc:spChg>
      </pc:sldChg>
      <pc:sldChg chg="addSp modSp mod">
        <pc:chgData name="Sives Sundar Manna" userId="03c5f2707fcb9447" providerId="LiveId" clId="{15CE8657-A2F8-4CE0-BFE9-0672E56668C5}" dt="2026-06-03T06:35:58.548" v="1022" actId="1038"/>
        <pc:sldMkLst>
          <pc:docMk/>
          <pc:sldMk cId="0" sldId="268"/>
        </pc:sldMkLst>
        <pc:spChg chg="mod">
          <ac:chgData name="Sives Sundar Manna" userId="03c5f2707fcb9447" providerId="LiveId" clId="{15CE8657-A2F8-4CE0-BFE9-0672E56668C5}" dt="2026-05-21T08:53:54.413" v="1015" actId="5793"/>
          <ac:spMkLst>
            <pc:docMk/>
            <pc:sldMk cId="0" sldId="268"/>
            <ac:spMk id="3" creationId="{00000000-0000-0000-0000-000000000000}"/>
          </ac:spMkLst>
        </pc:spChg>
        <pc:picChg chg="add mod">
          <ac:chgData name="Sives Sundar Manna" userId="03c5f2707fcb9447" providerId="LiveId" clId="{15CE8657-A2F8-4CE0-BFE9-0672E56668C5}" dt="2026-06-03T06:35:58.548" v="1022" actId="1038"/>
          <ac:picMkLst>
            <pc:docMk/>
            <pc:sldMk cId="0" sldId="268"/>
            <ac:picMk id="5" creationId="{AF864199-6F66-87C8-D82F-AE56F2EAFD1C}"/>
          </ac:picMkLst>
        </pc:picChg>
      </pc:sldChg>
      <pc:sldChg chg="addSp modSp mod">
        <pc:chgData name="Sives Sundar Manna" userId="03c5f2707fcb9447" providerId="LiveId" clId="{15CE8657-A2F8-4CE0-BFE9-0672E56668C5}" dt="2026-05-21T08:00:39.768" v="591" actId="255"/>
        <pc:sldMkLst>
          <pc:docMk/>
          <pc:sldMk cId="1401511612" sldId="271"/>
        </pc:sldMkLst>
        <pc:spChg chg="mod">
          <ac:chgData name="Sives Sundar Manna" userId="03c5f2707fcb9447" providerId="LiveId" clId="{15CE8657-A2F8-4CE0-BFE9-0672E56668C5}" dt="2026-05-21T08:00:39.768" v="591" actId="255"/>
          <ac:spMkLst>
            <pc:docMk/>
            <pc:sldMk cId="1401511612" sldId="271"/>
            <ac:spMk id="3" creationId="{B185556F-1CF8-4F94-3318-9FF8024386EF}"/>
          </ac:spMkLst>
        </pc:spChg>
        <pc:graphicFrameChg chg="add mod modGraphic">
          <ac:chgData name="Sives Sundar Manna" userId="03c5f2707fcb9447" providerId="LiveId" clId="{15CE8657-A2F8-4CE0-BFE9-0672E56668C5}" dt="2026-05-21T07:59:29.539" v="548" actId="122"/>
          <ac:graphicFrameMkLst>
            <pc:docMk/>
            <pc:sldMk cId="1401511612" sldId="271"/>
            <ac:graphicFrameMk id="4" creationId="{1113FF7B-0A06-5D2E-0378-3FAD5A8361DE}"/>
          </ac:graphicFrameMkLst>
        </pc:graphicFrameChg>
      </pc:sldChg>
      <pc:sldChg chg="modSp mod">
        <pc:chgData name="Sives Sundar Manna" userId="03c5f2707fcb9447" providerId="LiveId" clId="{15CE8657-A2F8-4CE0-BFE9-0672E56668C5}" dt="2026-05-21T07:52:29.785" v="519" actId="14100"/>
        <pc:sldMkLst>
          <pc:docMk/>
          <pc:sldMk cId="2617807671" sldId="273"/>
        </pc:sldMkLst>
        <pc:spChg chg="mod">
          <ac:chgData name="Sives Sundar Manna" userId="03c5f2707fcb9447" providerId="LiveId" clId="{15CE8657-A2F8-4CE0-BFE9-0672E56668C5}" dt="2026-05-21T07:52:29.785" v="519" actId="14100"/>
          <ac:spMkLst>
            <pc:docMk/>
            <pc:sldMk cId="2617807671" sldId="273"/>
            <ac:spMk id="3" creationId="{99F52E9D-38A6-A515-1CEE-C5D4C5664454}"/>
          </ac:spMkLst>
        </pc:spChg>
      </pc:sldChg>
      <pc:sldChg chg="modSp mod">
        <pc:chgData name="Sives Sundar Manna" userId="03c5f2707fcb9447" providerId="LiveId" clId="{15CE8657-A2F8-4CE0-BFE9-0672E56668C5}" dt="2026-05-21T08:12:47.689" v="699" actId="20577"/>
        <pc:sldMkLst>
          <pc:docMk/>
          <pc:sldMk cId="4079718171" sldId="274"/>
        </pc:sldMkLst>
        <pc:spChg chg="mod">
          <ac:chgData name="Sives Sundar Manna" userId="03c5f2707fcb9447" providerId="LiveId" clId="{15CE8657-A2F8-4CE0-BFE9-0672E56668C5}" dt="2026-05-21T08:12:47.689" v="699" actId="20577"/>
          <ac:spMkLst>
            <pc:docMk/>
            <pc:sldMk cId="4079718171" sldId="274"/>
            <ac:spMk id="2" creationId="{8CD4D835-E91A-E55A-4C4D-8A5F7A6C012D}"/>
          </ac:spMkLst>
        </pc:spChg>
        <pc:spChg chg="mod">
          <ac:chgData name="Sives Sundar Manna" userId="03c5f2707fcb9447" providerId="LiveId" clId="{15CE8657-A2F8-4CE0-BFE9-0672E56668C5}" dt="2026-05-21T08:12:23.990" v="682" actId="14100"/>
          <ac:spMkLst>
            <pc:docMk/>
            <pc:sldMk cId="4079718171" sldId="274"/>
            <ac:spMk id="3" creationId="{B279C7C2-6ED3-6C5A-3D69-3D16C6DAE1A7}"/>
          </ac:spMkLst>
        </pc:spChg>
      </pc:sldChg>
      <pc:sldChg chg="modSp mod">
        <pc:chgData name="Sives Sundar Manna" userId="03c5f2707fcb9447" providerId="LiveId" clId="{15CE8657-A2F8-4CE0-BFE9-0672E56668C5}" dt="2026-05-21T08:34:23.717" v="956" actId="20577"/>
        <pc:sldMkLst>
          <pc:docMk/>
          <pc:sldMk cId="2196803362" sldId="276"/>
        </pc:sldMkLst>
        <pc:spChg chg="mod">
          <ac:chgData name="Sives Sundar Manna" userId="03c5f2707fcb9447" providerId="LiveId" clId="{15CE8657-A2F8-4CE0-BFE9-0672E56668C5}" dt="2026-05-21T08:34:23.717" v="956" actId="20577"/>
          <ac:spMkLst>
            <pc:docMk/>
            <pc:sldMk cId="2196803362" sldId="276"/>
            <ac:spMk id="3" creationId="{DE972697-2E76-4619-D7A9-67319E82BB9E}"/>
          </ac:spMkLst>
        </pc:spChg>
      </pc:sldChg>
      <pc:sldChg chg="addSp delSp modSp mod">
        <pc:chgData name="Sives Sundar Manna" userId="03c5f2707fcb9447" providerId="LiveId" clId="{15CE8657-A2F8-4CE0-BFE9-0672E56668C5}" dt="2026-05-21T08:35:37.724" v="973" actId="15"/>
        <pc:sldMkLst>
          <pc:docMk/>
          <pc:sldMk cId="1946048478" sldId="277"/>
        </pc:sldMkLst>
        <pc:spChg chg="mod">
          <ac:chgData name="Sives Sundar Manna" userId="03c5f2707fcb9447" providerId="LiveId" clId="{15CE8657-A2F8-4CE0-BFE9-0672E56668C5}" dt="2026-05-21T08:35:37.724" v="973" actId="15"/>
          <ac:spMkLst>
            <pc:docMk/>
            <pc:sldMk cId="1946048478" sldId="277"/>
            <ac:spMk id="132" creationId="{00000000-0000-0000-0000-000000000000}"/>
          </ac:spMkLst>
        </pc:spChg>
      </pc:sldChg>
      <pc:sldChg chg="addSp delSp modSp mod chgLayout">
        <pc:chgData name="Sives Sundar Manna" userId="03c5f2707fcb9447" providerId="LiveId" clId="{15CE8657-A2F8-4CE0-BFE9-0672E56668C5}" dt="2026-05-21T08:31:24.757" v="906" actId="20577"/>
        <pc:sldMkLst>
          <pc:docMk/>
          <pc:sldMk cId="3514198948" sldId="278"/>
        </pc:sldMkLst>
        <pc:spChg chg="add mod ord">
          <ac:chgData name="Sives Sundar Manna" userId="03c5f2707fcb9447" providerId="LiveId" clId="{15CE8657-A2F8-4CE0-BFE9-0672E56668C5}" dt="2026-05-21T08:21:01.489" v="818"/>
          <ac:spMkLst>
            <pc:docMk/>
            <pc:sldMk cId="3514198948" sldId="278"/>
            <ac:spMk id="3" creationId="{E12087C1-3D5E-9311-4DB4-53AB59A6049C}"/>
          </ac:spMkLst>
        </pc:spChg>
        <pc:spChg chg="add del mod">
          <ac:chgData name="Sives Sundar Manna" userId="03c5f2707fcb9447" providerId="LiveId" clId="{15CE8657-A2F8-4CE0-BFE9-0672E56668C5}" dt="2026-05-21T08:31:24.757" v="906" actId="20577"/>
          <ac:spMkLst>
            <pc:docMk/>
            <pc:sldMk cId="3514198948" sldId="278"/>
            <ac:spMk id="17" creationId="{8FCE806C-D84D-15CA-F479-56E9733305DB}"/>
          </ac:spMkLst>
        </pc:spChg>
        <pc:spChg chg="mod ord">
          <ac:chgData name="Sives Sundar Manna" userId="03c5f2707fcb9447" providerId="LiveId" clId="{15CE8657-A2F8-4CE0-BFE9-0672E56668C5}" dt="2026-05-21T08:21:46.084" v="845" actId="20577"/>
          <ac:spMkLst>
            <pc:docMk/>
            <pc:sldMk cId="3514198948" sldId="278"/>
            <ac:spMk id="131" creationId="{00000000-0000-0000-0000-000000000000}"/>
          </ac:spMkLst>
        </pc:spChg>
        <pc:picChg chg="add mod">
          <ac:chgData name="Sives Sundar Manna" userId="03c5f2707fcb9447" providerId="LiveId" clId="{15CE8657-A2F8-4CE0-BFE9-0672E56668C5}" dt="2026-05-21T08:25:52.150" v="859" actId="14100"/>
          <ac:picMkLst>
            <pc:docMk/>
            <pc:sldMk cId="3514198948" sldId="278"/>
            <ac:picMk id="9" creationId="{C7A5A674-6D32-B8E2-0B39-CA734D8D2020}"/>
          </ac:picMkLst>
        </pc:picChg>
        <pc:picChg chg="add mod">
          <ac:chgData name="Sives Sundar Manna" userId="03c5f2707fcb9447" providerId="LiveId" clId="{15CE8657-A2F8-4CE0-BFE9-0672E56668C5}" dt="2026-05-21T08:25:41.794" v="856" actId="14100"/>
          <ac:picMkLst>
            <pc:docMk/>
            <pc:sldMk cId="3514198948" sldId="278"/>
            <ac:picMk id="11" creationId="{CD00823A-EE53-999D-00E5-0EA21C65D5B7}"/>
          </ac:picMkLst>
        </pc:picChg>
        <pc:picChg chg="add mod">
          <ac:chgData name="Sives Sundar Manna" userId="03c5f2707fcb9447" providerId="LiveId" clId="{15CE8657-A2F8-4CE0-BFE9-0672E56668C5}" dt="2026-05-21T08:27:01.969" v="862" actId="14100"/>
          <ac:picMkLst>
            <pc:docMk/>
            <pc:sldMk cId="3514198948" sldId="278"/>
            <ac:picMk id="13" creationId="{0B5DB67E-17B4-B775-4C97-49D90210E70E}"/>
          </ac:picMkLst>
        </pc:picChg>
        <pc:picChg chg="add mod">
          <ac:chgData name="Sives Sundar Manna" userId="03c5f2707fcb9447" providerId="LiveId" clId="{15CE8657-A2F8-4CE0-BFE9-0672E56668C5}" dt="2026-05-21T08:28:01.555" v="865" actId="14100"/>
          <ac:picMkLst>
            <pc:docMk/>
            <pc:sldMk cId="3514198948" sldId="278"/>
            <ac:picMk id="15" creationId="{C61F8703-3386-BD1A-8638-96F67912AC67}"/>
          </ac:picMkLst>
        </pc:picChg>
      </pc:sldChg>
      <pc:sldChg chg="modSp mod">
        <pc:chgData name="Sives Sundar Manna" userId="03c5f2707fcb9447" providerId="LiveId" clId="{15CE8657-A2F8-4CE0-BFE9-0672E56668C5}" dt="2026-05-21T08:32:56.612" v="939" actId="14100"/>
        <pc:sldMkLst>
          <pc:docMk/>
          <pc:sldMk cId="646649433" sldId="279"/>
        </pc:sldMkLst>
        <pc:spChg chg="mod">
          <ac:chgData name="Sives Sundar Manna" userId="03c5f2707fcb9447" providerId="LiveId" clId="{15CE8657-A2F8-4CE0-BFE9-0672E56668C5}" dt="2026-05-21T08:32:04.513" v="921" actId="20577"/>
          <ac:spMkLst>
            <pc:docMk/>
            <pc:sldMk cId="646649433" sldId="279"/>
            <ac:spMk id="2" creationId="{9D1CBD22-65BF-D221-25B6-89C2F6DBE16A}"/>
          </ac:spMkLst>
        </pc:spChg>
        <pc:spChg chg="mod">
          <ac:chgData name="Sives Sundar Manna" userId="03c5f2707fcb9447" providerId="LiveId" clId="{15CE8657-A2F8-4CE0-BFE9-0672E56668C5}" dt="2026-05-21T08:32:56.612" v="939" actId="14100"/>
          <ac:spMkLst>
            <pc:docMk/>
            <pc:sldMk cId="646649433" sldId="279"/>
            <ac:spMk id="3" creationId="{B185556F-1CF8-4F94-3318-9FF8024386EF}"/>
          </ac:spMkLst>
        </pc:spChg>
      </pc:sldChg>
      <pc:sldChg chg="addSp delSp modSp mod">
        <pc:chgData name="Sives Sundar Manna" userId="03c5f2707fcb9447" providerId="LiveId" clId="{15CE8657-A2F8-4CE0-BFE9-0672E56668C5}" dt="2026-05-21T08:47:19.111" v="989" actId="14100"/>
        <pc:sldMkLst>
          <pc:docMk/>
          <pc:sldMk cId="2577192598" sldId="281"/>
        </pc:sldMkLst>
        <pc:graphicFrameChg chg="add mod modGraphic">
          <ac:chgData name="Sives Sundar Manna" userId="03c5f2707fcb9447" providerId="LiveId" clId="{15CE8657-A2F8-4CE0-BFE9-0672E56668C5}" dt="2026-05-21T08:47:19.111" v="989" actId="14100"/>
          <ac:graphicFrameMkLst>
            <pc:docMk/>
            <pc:sldMk cId="2577192598" sldId="281"/>
            <ac:graphicFrameMk id="7" creationId="{592A85D2-4050-4224-E68D-BC7211182384}"/>
          </ac:graphicFrameMkLst>
        </pc:graphicFrameChg>
      </pc:sldChg>
      <pc:sldChg chg="modSp">
        <pc:chgData name="Sives Sundar Manna" userId="03c5f2707fcb9447" providerId="LiveId" clId="{15CE8657-A2F8-4CE0-BFE9-0672E56668C5}" dt="2026-05-21T08:01:35.680" v="592"/>
        <pc:sldMkLst>
          <pc:docMk/>
          <pc:sldMk cId="28713123" sldId="283"/>
        </pc:sldMkLst>
        <pc:spChg chg="mod">
          <ac:chgData name="Sives Sundar Manna" userId="03c5f2707fcb9447" providerId="LiveId" clId="{15CE8657-A2F8-4CE0-BFE9-0672E56668C5}" dt="2026-05-21T08:01:35.680" v="592"/>
          <ac:spMkLst>
            <pc:docMk/>
            <pc:sldMk cId="28713123" sldId="283"/>
            <ac:spMk id="3" creationId="{653D38A7-790F-EF2B-94B6-1E3452627FC3}"/>
          </ac:spMkLst>
        </pc:spChg>
      </pc:sldChg>
      <pc:sldChg chg="addSp delSp modSp mod modClrScheme chgLayout">
        <pc:chgData name="Sives Sundar Manna" userId="03c5f2707fcb9447" providerId="LiveId" clId="{15CE8657-A2F8-4CE0-BFE9-0672E56668C5}" dt="2026-05-21T08:09:59.664" v="656" actId="20577"/>
        <pc:sldMkLst>
          <pc:docMk/>
          <pc:sldMk cId="3561310515" sldId="284"/>
        </pc:sldMkLst>
        <pc:spChg chg="mod ord">
          <ac:chgData name="Sives Sundar Manna" userId="03c5f2707fcb9447" providerId="LiveId" clId="{15CE8657-A2F8-4CE0-BFE9-0672E56668C5}" dt="2026-05-21T08:09:59.664" v="656" actId="20577"/>
          <ac:spMkLst>
            <pc:docMk/>
            <pc:sldMk cId="3561310515" sldId="284"/>
            <ac:spMk id="2" creationId="{1FF6E2A7-F49B-0FAD-BAB0-F84CF3CC2509}"/>
          </ac:spMkLst>
        </pc:spChg>
        <pc:spChg chg="mod ord">
          <ac:chgData name="Sives Sundar Manna" userId="03c5f2707fcb9447" providerId="LiveId" clId="{15CE8657-A2F8-4CE0-BFE9-0672E56668C5}" dt="2026-05-21T08:07:50.482" v="644" actId="700"/>
          <ac:spMkLst>
            <pc:docMk/>
            <pc:sldMk cId="3561310515" sldId="284"/>
            <ac:spMk id="3" creationId="{10EC8ACF-719E-9F97-82C6-9411E2F09179}"/>
          </ac:spMkLst>
        </pc:spChg>
        <pc:spChg chg="add mod ord">
          <ac:chgData name="Sives Sundar Manna" userId="03c5f2707fcb9447" providerId="LiveId" clId="{15CE8657-A2F8-4CE0-BFE9-0672E56668C5}" dt="2026-05-21T08:07:53.442" v="645"/>
          <ac:spMkLst>
            <pc:docMk/>
            <pc:sldMk cId="3561310515" sldId="284"/>
            <ac:spMk id="7" creationId="{4E8C5370-472F-C841-124C-7465246B04D5}"/>
          </ac:spMkLst>
        </pc:spChg>
      </pc:sldChg>
      <pc:sldChg chg="addSp modSp del mod">
        <pc:chgData name="Sives Sundar Manna" userId="03c5f2707fcb9447" providerId="LiveId" clId="{15CE8657-A2F8-4CE0-BFE9-0672E56668C5}" dt="2026-06-03T06:40:49.247" v="1023" actId="47"/>
        <pc:sldMkLst>
          <pc:docMk/>
          <pc:sldMk cId="1832678655" sldId="285"/>
        </pc:sldMkLst>
      </pc:sldChg>
      <pc:sldChg chg="modSp add mod">
        <pc:chgData name="Sives Sundar Manna" userId="03c5f2707fcb9447" providerId="LiveId" clId="{15CE8657-A2F8-4CE0-BFE9-0672E56668C5}" dt="2026-05-21T08:37:11.536" v="976" actId="120"/>
        <pc:sldMkLst>
          <pc:docMk/>
          <pc:sldMk cId="2025873382" sldId="286"/>
        </pc:sldMkLst>
        <pc:spChg chg="mod">
          <ac:chgData name="Sives Sundar Manna" userId="03c5f2707fcb9447" providerId="LiveId" clId="{15CE8657-A2F8-4CE0-BFE9-0672E56668C5}" dt="2026-05-21T08:37:11.536" v="976" actId="120"/>
          <ac:spMkLst>
            <pc:docMk/>
            <pc:sldMk cId="2025873382" sldId="286"/>
            <ac:spMk id="132" creationId="{385AE738-BE62-B388-49EA-CF2F377D6119}"/>
          </ac:spMkLst>
        </pc:spChg>
      </pc:sldChg>
      <pc:sldChg chg="addSp delSp modSp add mod">
        <pc:chgData name="Sives Sundar Manna" userId="03c5f2707fcb9447" providerId="LiveId" clId="{15CE8657-A2F8-4CE0-BFE9-0672E56668C5}" dt="2026-05-21T08:49:42.818" v="1005" actId="14100"/>
        <pc:sldMkLst>
          <pc:docMk/>
          <pc:sldMk cId="2373100421" sldId="287"/>
        </pc:sldMkLst>
        <pc:spChg chg="mod">
          <ac:chgData name="Sives Sundar Manna" userId="03c5f2707fcb9447" providerId="LiveId" clId="{15CE8657-A2F8-4CE0-BFE9-0672E56668C5}" dt="2026-05-21T08:48:53.566" v="1000"/>
          <ac:spMkLst>
            <pc:docMk/>
            <pc:sldMk cId="2373100421" sldId="287"/>
            <ac:spMk id="3" creationId="{D9C66422-4C7A-2D93-516F-144277E18F18}"/>
          </ac:spMkLst>
        </pc:spChg>
        <pc:picChg chg="add mod">
          <ac:chgData name="Sives Sundar Manna" userId="03c5f2707fcb9447" providerId="LiveId" clId="{15CE8657-A2F8-4CE0-BFE9-0672E56668C5}" dt="2026-05-21T08:49:42.818" v="1005" actId="14100"/>
          <ac:picMkLst>
            <pc:docMk/>
            <pc:sldMk cId="2373100421" sldId="287"/>
            <ac:picMk id="5" creationId="{19BE690B-A987-D008-94FB-0B1632214E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4172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99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5E84628-FFC3-A0E6-47E3-47280CBA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>
            <a:extLst>
              <a:ext uri="{FF2B5EF4-FFF2-40B4-BE49-F238E27FC236}">
                <a16:creationId xmlns:a16="http://schemas.microsoft.com/office/drawing/2014/main" id="{B5139523-57A7-4946-D0EC-6CD5693D4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>
            <a:extLst>
              <a:ext uri="{FF2B5EF4-FFF2-40B4-BE49-F238E27FC236}">
                <a16:creationId xmlns:a16="http://schemas.microsoft.com/office/drawing/2014/main" id="{7C56B14B-39AC-4405-EA50-C223B7604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0269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519336" y="6308727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8" name="Google Shape;28;p18"/>
          <p:cNvSpPr/>
          <p:nvPr/>
        </p:nvSpPr>
        <p:spPr>
          <a:xfrm>
            <a:off x="200472" y="6721476"/>
            <a:ext cx="294828" cy="919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80" y="6705906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1280592" y="6356351"/>
            <a:ext cx="2657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3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 txBox="1"/>
          <p:nvPr/>
        </p:nvSpPr>
        <p:spPr>
          <a:xfrm>
            <a:off x="0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3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6633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6" descr="C:\Users\Paramesh\Desktop\Logo\Logo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464" y="6337321"/>
            <a:ext cx="262890" cy="342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280592" y="2840538"/>
            <a:ext cx="7696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2400" b="1" dirty="0">
                <a:solidFill>
                  <a:srgbClr val="002060"/>
                </a:solidFill>
                <a:sym typeface="Arial"/>
              </a:rPr>
              <a:t>B.Tech Final Project Presentation on</a:t>
            </a:r>
            <a:br>
              <a:rPr lang="en-US" sz="2400" b="1" dirty="0">
                <a:solidFill>
                  <a:srgbClr val="002060"/>
                </a:solidFill>
                <a:sym typeface="Arial"/>
              </a:rPr>
            </a:br>
            <a:r>
              <a:rPr lang="en-US" sz="3200" b="1" dirty="0">
                <a:solidFill>
                  <a:srgbClr val="FF0000"/>
                </a:solidFill>
              </a:rPr>
              <a:t>AI-Based Multi-View Muscle Hypertrophy Tracking and Fitness Analytics System Using Computer Vision</a:t>
            </a:r>
            <a:br>
              <a:rPr lang="en-US" sz="2800" b="1" dirty="0">
                <a:solidFill>
                  <a:srgbClr val="002060"/>
                </a:solidFill>
              </a:rPr>
            </a:br>
            <a:br>
              <a:rPr lang="en-US" sz="3600" b="1" dirty="0">
                <a:solidFill>
                  <a:srgbClr val="002060"/>
                </a:solidFill>
              </a:rPr>
            </a:br>
            <a:endParaRPr sz="2800" b="1" dirty="0">
              <a:solidFill>
                <a:srgbClr val="002060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16496" y="4231187"/>
            <a:ext cx="78486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446940" y="4065593"/>
            <a:ext cx="4248150" cy="20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2060"/>
              </a:buClr>
              <a:buSzPts val="2400"/>
            </a:pPr>
            <a:r>
              <a:rPr lang="en-US" sz="20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: </a:t>
            </a:r>
            <a:r>
              <a:rPr lang="de-DE" sz="2000" b="1" kern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Sheethal Raj T G</a:t>
            </a:r>
            <a:endParaRPr lang="de-DE" sz="2000" b="1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2060"/>
              </a:buClr>
              <a:buSzPts val="2400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Group No.  : </a:t>
            </a:r>
            <a:r>
              <a:rPr lang="en-IN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PB 81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AE390-1EBF-06F6-7AA0-D50F7D61E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056" y="396541"/>
            <a:ext cx="2423886" cy="845768"/>
          </a:xfrm>
          <a:prstGeom prst="rect">
            <a:avLst/>
          </a:prstGeom>
        </p:spPr>
      </p:pic>
      <p:graphicFrame>
        <p:nvGraphicFramePr>
          <p:cNvPr id="101" name="Google Shape;101;p2"/>
          <p:cNvGraphicFramePr/>
          <p:nvPr>
            <p:extLst>
              <p:ext uri="{D42A27DB-BD31-4B8C-83A1-F6EECF244321}">
                <p14:modId xmlns:p14="http://schemas.microsoft.com/office/powerpoint/2010/main" val="760880882"/>
              </p:ext>
            </p:extLst>
          </p:nvPr>
        </p:nvGraphicFramePr>
        <p:xfrm>
          <a:off x="899885" y="4065593"/>
          <a:ext cx="4053114" cy="1327700"/>
        </p:xfrm>
        <a:graphic>
          <a:graphicData uri="http://schemas.openxmlformats.org/drawingml/2006/table">
            <a:tbl>
              <a:tblPr firstRow="1" bandRow="1">
                <a:tableStyleId>{9F6D2E3C-A018-442B-BF50-C8C78C53ADB0}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200" b="1" u="none" strike="noStrike" cap="none" dirty="0"/>
                        <a:t>Registration no.</a:t>
                      </a:r>
                      <a:endParaRPr sz="12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200" b="1" u="none" strike="noStrike" cap="none" dirty="0"/>
                        <a:t>Student Name</a:t>
                      </a:r>
                      <a:endParaRPr sz="1200" b="1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200" b="1" dirty="0"/>
                        <a:t>22ETCS002104</a:t>
                      </a:r>
                      <a:endParaRPr sz="12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</a:rPr>
                        <a:t>Sives Sundar Manna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/>
                        <a:t>22ETCS002109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</a:rPr>
                        <a:t>Suman Debnath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576471197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/>
                        <a:t>22ETCS002081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Rahul Pal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1523964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C9A9E3-E530-E961-7215-B88F80BF24C5}"/>
              </a:ext>
            </a:extLst>
          </p:cNvPr>
          <p:cNvSpPr txBox="1"/>
          <p:nvPr/>
        </p:nvSpPr>
        <p:spPr>
          <a:xfrm>
            <a:off x="787933" y="1464357"/>
            <a:ext cx="833013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95300" y="226554"/>
            <a:ext cx="89154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0000"/>
                </a:solidFill>
              </a:rPr>
              <a:t>Outline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776536" y="884678"/>
            <a:ext cx="8915400" cy="544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Problem Statement &amp; Motivation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Objectives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Existing System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Proposed System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System Architecture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Implementation and Testing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Result Analysis and Discussions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Live Demonstration 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Conclusion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Future Scope</a:t>
            </a:r>
            <a:endParaRPr sz="2400" b="1" dirty="0"/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References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0544-D8D4-34B2-06CE-9F0B6703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610733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Problem Statement and Motivation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52E9D-38A6-A515-1CEE-C5D4C5664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885371"/>
            <a:ext cx="8915400" cy="5240793"/>
          </a:xfrm>
        </p:spPr>
        <p:txBody>
          <a:bodyPr/>
          <a:lstStyle/>
          <a:p>
            <a:pPr lvl="0" algn="just"/>
            <a:r>
              <a:rPr lang="en-US" sz="2400" b="1" dirty="0"/>
              <a:t>Problem Statement :</a:t>
            </a:r>
          </a:p>
          <a:p>
            <a:pPr marL="25400" indent="0">
              <a:buNone/>
            </a:pPr>
            <a:r>
              <a:rPr lang="en-US" sz="1800" dirty="0"/>
              <a:t>         Traditional fitness progress tracking relies heavily on:</a:t>
            </a:r>
          </a:p>
          <a:p>
            <a:pPr lvl="1"/>
            <a:r>
              <a:rPr lang="en-US" sz="1600" dirty="0"/>
              <a:t>manual tape measurements</a:t>
            </a:r>
          </a:p>
          <a:p>
            <a:pPr lvl="1"/>
            <a:r>
              <a:rPr lang="en-US" sz="1600" dirty="0"/>
              <a:t>subjective mirror comparisons</a:t>
            </a:r>
          </a:p>
          <a:p>
            <a:pPr lvl="1"/>
            <a:r>
              <a:rPr lang="en-US" sz="1600" dirty="0"/>
              <a:t>inconsistent gym progress observations</a:t>
            </a:r>
          </a:p>
          <a:p>
            <a:pPr marL="25400" indent="0">
              <a:buNone/>
            </a:pPr>
            <a:r>
              <a:rPr lang="en-US" sz="1400" dirty="0"/>
              <a:t>           </a:t>
            </a:r>
            <a:r>
              <a:rPr lang="en-US" sz="1800" dirty="0"/>
              <a:t>Current consumer tools:</a:t>
            </a:r>
          </a:p>
          <a:p>
            <a:pPr lvl="1"/>
            <a:r>
              <a:rPr lang="en-US" sz="1600" dirty="0"/>
              <a:t>require expensive 3D scanners</a:t>
            </a:r>
          </a:p>
          <a:p>
            <a:pPr lvl="1"/>
            <a:r>
              <a:rPr lang="en-US" sz="1600" dirty="0"/>
              <a:t>use wearable sensors</a:t>
            </a:r>
          </a:p>
          <a:p>
            <a:pPr lvl="1"/>
            <a:r>
              <a:rPr lang="en-US" sz="1600" dirty="0"/>
              <a:t>fail to provide affordable muscle-focused tracking</a:t>
            </a:r>
          </a:p>
          <a:p>
            <a:pPr marL="25400" lvl="0" indent="0" algn="just">
              <a:buNone/>
            </a:pPr>
            <a:endParaRPr lang="en-IN" sz="2400" dirty="0"/>
          </a:p>
          <a:p>
            <a:pPr lvl="0" algn="just"/>
            <a:r>
              <a:rPr lang="en-US" sz="2400" b="1" dirty="0"/>
              <a:t>Motivation:</a:t>
            </a:r>
          </a:p>
          <a:p>
            <a:pPr marL="25400" indent="0">
              <a:buNone/>
            </a:pPr>
            <a:r>
              <a:rPr lang="en-US" sz="1800" dirty="0"/>
              <a:t>        Need for:</a:t>
            </a:r>
          </a:p>
          <a:p>
            <a:pPr lvl="1"/>
            <a:r>
              <a:rPr lang="en-US" sz="1600" dirty="0"/>
              <a:t>low-cost automated body measurement</a:t>
            </a:r>
          </a:p>
          <a:p>
            <a:pPr lvl="1"/>
            <a:r>
              <a:rPr lang="en-US" sz="1600" dirty="0"/>
              <a:t>objective hypertrophy monitoring</a:t>
            </a:r>
          </a:p>
          <a:p>
            <a:pPr lvl="1"/>
            <a:r>
              <a:rPr lang="en-US" sz="1600" dirty="0"/>
              <a:t>longitudinal progress analytics</a:t>
            </a:r>
          </a:p>
          <a:p>
            <a:pPr lvl="1"/>
            <a:r>
              <a:rPr lang="en-US" sz="1600" dirty="0"/>
              <a:t>AI-assisted personal fitness tracking</a:t>
            </a:r>
          </a:p>
          <a:p>
            <a:pPr lvl="1" algn="just"/>
            <a:endParaRPr lang="en-IN" sz="20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780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608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b="1" dirty="0">
                <a:solidFill>
                  <a:srgbClr val="0070C0"/>
                </a:solidFill>
              </a:rPr>
              <a:t>Objectives</a:t>
            </a:r>
            <a:endParaRPr sz="3600" b="1" dirty="0">
              <a:solidFill>
                <a:srgbClr val="0070C0"/>
              </a:solidFill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95300" y="924232"/>
            <a:ext cx="8915400" cy="543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dirty="0"/>
              <a:t>Primary objectives:</a:t>
            </a:r>
          </a:p>
          <a:p>
            <a:pPr lvl="1"/>
            <a:r>
              <a:rPr lang="en-IN" sz="2000" dirty="0"/>
              <a:t>Develop automated body measurement system using computer vision</a:t>
            </a:r>
          </a:p>
          <a:p>
            <a:pPr lvl="1"/>
            <a:r>
              <a:rPr lang="en-IN" sz="2000" dirty="0"/>
              <a:t>Capture body dimensions using multi-view pose estimation</a:t>
            </a:r>
          </a:p>
          <a:p>
            <a:pPr lvl="1"/>
            <a:r>
              <a:rPr lang="en-IN" sz="2000" dirty="0"/>
              <a:t>Construct pseudo-3D anthropometric metrics</a:t>
            </a:r>
          </a:p>
          <a:p>
            <a:pPr lvl="1"/>
            <a:r>
              <a:rPr lang="en-IN" sz="2000" dirty="0"/>
              <a:t>Track longitudinal fitness progress over time</a:t>
            </a:r>
          </a:p>
          <a:p>
            <a:pPr lvl="1"/>
            <a:r>
              <a:rPr lang="en-IN" sz="2000" dirty="0"/>
              <a:t>Provide intuitive dashboard visualization</a:t>
            </a:r>
          </a:p>
          <a:p>
            <a:pPr marL="508000" lvl="1" indent="0">
              <a:buNone/>
            </a:pPr>
            <a:endParaRPr lang="en-IN" sz="2000" dirty="0"/>
          </a:p>
          <a:p>
            <a:pPr marL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D22-65BF-D221-25B6-89C2F6DB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Existing System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5556F-1CF8-4F94-3318-9FF80243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904569"/>
            <a:ext cx="8915400" cy="5221596"/>
          </a:xfrm>
        </p:spPr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Research Gap: </a:t>
            </a:r>
          </a:p>
          <a:p>
            <a:pPr marL="508000" lvl="1" indent="0">
              <a:buNone/>
            </a:pPr>
            <a:r>
              <a:rPr lang="en-US" sz="2000" dirty="0"/>
              <a:t>No accessible low-cost multi-view AI hypertrophy tracking system focused on muscle growth monitoring.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13FF7B-0A06-5D2E-0378-3FAD5A836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146982"/>
              </p:ext>
            </p:extLst>
          </p:nvPr>
        </p:nvGraphicFramePr>
        <p:xfrm>
          <a:off x="681038" y="1061884"/>
          <a:ext cx="8543924" cy="3421626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3070674681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1151340980"/>
                    </a:ext>
                  </a:extLst>
                </a:gridCol>
              </a:tblGrid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Existing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656064"/>
                  </a:ext>
                </a:extLst>
              </a:tr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Manual tape measurements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human error, inconsistent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80505"/>
                  </a:ext>
                </a:extLst>
              </a:tr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Mirror/photo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405875"/>
                  </a:ext>
                </a:extLst>
              </a:tr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Smart wearables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indirect estimation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900475"/>
                  </a:ext>
                </a:extLst>
              </a:tr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Commercial 3D body scanners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197481"/>
                  </a:ext>
                </a:extLst>
              </a:tr>
              <a:tr h="570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Generic fitness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no actual body measurement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69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51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5F23-D9CC-B9BF-6367-AE59EAE9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5E92-311B-1955-0D5E-FD221462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Existing System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D38A7-790F-EF2B-94B6-1E3452627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071717"/>
            <a:ext cx="8915400" cy="5054448"/>
          </a:xfrm>
        </p:spPr>
        <p:txBody>
          <a:bodyPr/>
          <a:lstStyle/>
          <a:p>
            <a:r>
              <a:rPr lang="en-US" sz="2800" b="1" dirty="0"/>
              <a:t>Existing Methods</a:t>
            </a:r>
            <a:r>
              <a:rPr lang="en-US" sz="28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Static 2D body measurement estimation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Generic pose-based anthropometry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Body composition/fat estimation systems</a:t>
            </a:r>
          </a:p>
          <a:p>
            <a:r>
              <a:rPr lang="en-US" sz="2800" b="1" dirty="0"/>
              <a:t>Limitations: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Mostly static measurements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No longitudinal muscle growth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Limited depth estimation in single-view systems</a:t>
            </a:r>
          </a:p>
          <a:p>
            <a:r>
              <a:rPr lang="en-US" sz="2800" b="1" dirty="0"/>
              <a:t>Research Gap: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No low-cost automated </a:t>
            </a:r>
            <a:r>
              <a:rPr lang="en-US" sz="2400" b="1" dirty="0"/>
              <a:t>multi-view hypertrophy tracking</a:t>
            </a:r>
            <a:r>
              <a:rPr lang="en-US" sz="2400" dirty="0"/>
              <a:t> system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Lack of pseudo-3D growth modeling and trend analysis</a:t>
            </a:r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71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BC32-9186-C91A-F96F-899F820A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8FD4-8B3E-2E07-4DA3-50E5C7B5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Existing System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FA49F-529B-0E0B-1B7D-B675A5AD4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47" y="1052052"/>
            <a:ext cx="8915400" cy="4891550"/>
          </a:xfrm>
        </p:spPr>
        <p:txBody>
          <a:bodyPr/>
          <a:lstStyle/>
          <a:p>
            <a:pPr lvl="0" algn="just"/>
            <a:r>
              <a:rPr lang="en-US" sz="2800" dirty="0"/>
              <a:t>Existing system can be shown in table form also:</a:t>
            </a:r>
          </a:p>
          <a:p>
            <a:pPr marL="25400" indent="0" algn="ctr">
              <a:buNone/>
            </a:pPr>
            <a:endParaRPr lang="en-IN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2A85D2-4050-4224-E68D-BC7211182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16635"/>
              </p:ext>
            </p:extLst>
          </p:nvPr>
        </p:nvGraphicFramePr>
        <p:xfrm>
          <a:off x="231494" y="914398"/>
          <a:ext cx="9352343" cy="5350877"/>
        </p:xfrm>
        <a:graphic>
          <a:graphicData uri="http://schemas.openxmlformats.org/drawingml/2006/table">
            <a:tbl>
              <a:tblPr firstRow="1" bandRow="1">
                <a:tableStyleId>{9B3D1C26-BEBA-40EB-B880-04AE644533D2}</a:tableStyleId>
              </a:tblPr>
              <a:tblGrid>
                <a:gridCol w="563412">
                  <a:extLst>
                    <a:ext uri="{9D8B030D-6E8A-4147-A177-3AD203B41FA5}">
                      <a16:colId xmlns:a16="http://schemas.microsoft.com/office/drawing/2014/main" val="3978043088"/>
                    </a:ext>
                  </a:extLst>
                </a:gridCol>
                <a:gridCol w="1268638">
                  <a:extLst>
                    <a:ext uri="{9D8B030D-6E8A-4147-A177-3AD203B41FA5}">
                      <a16:colId xmlns:a16="http://schemas.microsoft.com/office/drawing/2014/main" val="1657768234"/>
                    </a:ext>
                  </a:extLst>
                </a:gridCol>
                <a:gridCol w="1908887">
                  <a:extLst>
                    <a:ext uri="{9D8B030D-6E8A-4147-A177-3AD203B41FA5}">
                      <a16:colId xmlns:a16="http://schemas.microsoft.com/office/drawing/2014/main" val="4201939628"/>
                    </a:ext>
                  </a:extLst>
                </a:gridCol>
                <a:gridCol w="1809329">
                  <a:extLst>
                    <a:ext uri="{9D8B030D-6E8A-4147-A177-3AD203B41FA5}">
                      <a16:colId xmlns:a16="http://schemas.microsoft.com/office/drawing/2014/main" val="1751754675"/>
                    </a:ext>
                  </a:extLst>
                </a:gridCol>
                <a:gridCol w="1931608">
                  <a:extLst>
                    <a:ext uri="{9D8B030D-6E8A-4147-A177-3AD203B41FA5}">
                      <a16:colId xmlns:a16="http://schemas.microsoft.com/office/drawing/2014/main" val="2676399007"/>
                    </a:ext>
                  </a:extLst>
                </a:gridCol>
                <a:gridCol w="1870469">
                  <a:extLst>
                    <a:ext uri="{9D8B030D-6E8A-4147-A177-3AD203B41FA5}">
                      <a16:colId xmlns:a16="http://schemas.microsoft.com/office/drawing/2014/main" val="305194794"/>
                    </a:ext>
                  </a:extLst>
                </a:gridCol>
              </a:tblGrid>
              <a:tr h="286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Title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Observations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578155"/>
                  </a:ext>
                </a:extLst>
              </a:tr>
              <a:tr h="75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2D Image-Based Digital Anthropometry Using Deep Learning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Deep learning-based landmark extraction from RGB images for body measurement estimation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RGB images of human subjects (single-session)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Focused on static body measurement; no longitudinal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Demonstrates feasibility of 2D landmark-based anthropometry but lacks time-series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810580"/>
                  </a:ext>
                </a:extLst>
              </a:tr>
              <a:tr h="115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Agreement of Anthropometric and Body Composition Measures Predicted from 2D Smartphone Images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Smartphone image-based body composition estimation compared with reference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Smartphone-captured 2D images with manual/DXA reference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Focused on body fat &amp; composition, not hypertrophy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Validates potential of 2D images for body metrics but not muscle growth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164549"/>
                  </a:ext>
                </a:extLst>
              </a:tr>
              <a:tr h="888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Development and Validation of a Smartphone Application for Measuring Waist-to-Hip Ratio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Computer vision-based circumference estimation using smartphone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Controlled smartphone image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Limited to waist/hip metrics; no multi-region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Shows smartphone CV can estimate circumferences reliably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005050"/>
                  </a:ext>
                </a:extLst>
              </a:tr>
              <a:tr h="75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[4]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Advances in Estimation of Body Fat Percentage Using AI 2D Photo Method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Deep learning regression model for fat % prediction from 2D photos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Large-scale 2D image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Focused on fat estimation; not muscle-specific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Reinforces 2D viability but domain differs from hypertrophy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467278"/>
                  </a:ext>
                </a:extLst>
              </a:tr>
              <a:tr h="858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[5]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Prediction of Body Composition Using 2D Image-Derived 3D Meshes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2D images converted into approximate 3D body meshes for composition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Multi-view RGB images with mesh reconstruction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Computationally heavy; not mobile-first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Highlights benefit of pseudo-3D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18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19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2179-E16E-E9ED-123E-6999BDD5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722B-28F3-9AC0-02EF-CFB75B36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Existing System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66422-4C7A-2D93-516F-144277E18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47" y="1052052"/>
            <a:ext cx="8915400" cy="4891550"/>
          </a:xfrm>
        </p:spPr>
        <p:txBody>
          <a:bodyPr/>
          <a:lstStyle/>
          <a:p>
            <a:pPr marL="25400" indent="0" algn="ctr">
              <a:buNone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E690B-A987-D008-94FB-0B163221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48" y="1417639"/>
            <a:ext cx="8915400" cy="3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0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Proposed System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495300" y="936702"/>
            <a:ext cx="8915400" cy="518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800" b="1" i="1" dirty="0"/>
              <a:t>NeoFit</a:t>
            </a:r>
            <a:r>
              <a:rPr lang="en-IN" sz="2800" b="1" dirty="0"/>
              <a:t> provides:</a:t>
            </a:r>
          </a:p>
          <a:p>
            <a:pPr lvl="1"/>
            <a:r>
              <a:rPr lang="en-IN" sz="2400" dirty="0"/>
              <a:t>webcam-based measurement capture</a:t>
            </a:r>
          </a:p>
          <a:p>
            <a:pPr lvl="1"/>
            <a:r>
              <a:rPr lang="en-IN" sz="2400" dirty="0"/>
              <a:t>front + left + right view pose acquisition</a:t>
            </a:r>
          </a:p>
          <a:p>
            <a:pPr lvl="1"/>
            <a:r>
              <a:rPr lang="en-IN" sz="2400" dirty="0"/>
              <a:t>landmark extraction using </a:t>
            </a:r>
            <a:r>
              <a:rPr lang="en-IN" sz="2400" dirty="0" err="1"/>
              <a:t>MediaPipe</a:t>
            </a:r>
            <a:endParaRPr lang="en-IN" sz="2400" dirty="0"/>
          </a:p>
          <a:p>
            <a:pPr lvl="1"/>
            <a:r>
              <a:rPr lang="en-IN" sz="2400" dirty="0"/>
              <a:t>silhouette-based torso width/depth estimation</a:t>
            </a:r>
          </a:p>
          <a:p>
            <a:pPr lvl="1"/>
            <a:r>
              <a:rPr lang="en-IN" sz="2400" dirty="0"/>
              <a:t>pseudo-3D circumference reconstruction</a:t>
            </a:r>
          </a:p>
          <a:p>
            <a:pPr lvl="1"/>
            <a:r>
              <a:rPr lang="en-IN" sz="2400" dirty="0"/>
              <a:t>session storage</a:t>
            </a:r>
          </a:p>
          <a:p>
            <a:pPr lvl="1"/>
            <a:r>
              <a:rPr lang="en-IN" sz="2400" dirty="0"/>
              <a:t>dashboard analytics</a:t>
            </a:r>
          </a:p>
          <a:p>
            <a:pPr lvl="1"/>
            <a:endParaRPr lang="en-IN" sz="2400" dirty="0"/>
          </a:p>
          <a:p>
            <a:r>
              <a:rPr lang="en-IN" sz="2400" b="1" u="sng" dirty="0"/>
              <a:t>Future intelligence:</a:t>
            </a:r>
          </a:p>
          <a:p>
            <a:pPr lvl="1"/>
            <a:r>
              <a:rPr lang="en-IN" sz="2400" dirty="0"/>
              <a:t>goal-aware prediction</a:t>
            </a:r>
          </a:p>
          <a:p>
            <a:pPr lvl="1"/>
            <a:r>
              <a:rPr lang="en-IN" sz="2400" dirty="0"/>
              <a:t>adaptive diet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System Architecture/Block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lvl="0" indent="0" algn="just">
              <a:buNone/>
            </a:pPr>
            <a:endParaRPr lang="en-US" sz="2800" b="1" dirty="0"/>
          </a:p>
        </p:txBody>
      </p:sp>
      <p:sp>
        <p:nvSpPr>
          <p:cNvPr id="1026" name="AutoShape 2" descr="Proposed framework for brain tumor detec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roposed framework for brain tumor detec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64199-6F66-87C8-D82F-AE56F2EA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" y="995423"/>
            <a:ext cx="9753600" cy="5278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3378-21B4-C537-52FE-C86B19E9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E2A7-F49B-0FAD-BAB0-F84CF3CC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C8ACF-719E-9F97-82C6-9411E2F09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b="1" i="1" dirty="0"/>
              <a:t>Pipeline:</a:t>
            </a:r>
          </a:p>
          <a:p>
            <a:pPr lvl="1"/>
            <a:r>
              <a:rPr lang="en-IN" sz="1800" b="1" dirty="0"/>
              <a:t>Step 1</a:t>
            </a:r>
          </a:p>
          <a:p>
            <a:pPr lvl="2"/>
            <a:r>
              <a:rPr lang="en-IN" sz="1600" dirty="0"/>
              <a:t>Profile setup</a:t>
            </a:r>
            <a:br>
              <a:rPr lang="en-IN" sz="1600" dirty="0"/>
            </a:br>
            <a:r>
              <a:rPr lang="en-IN" sz="1600" dirty="0"/>
              <a:t>(height, weight, goal, activity level)</a:t>
            </a:r>
          </a:p>
          <a:p>
            <a:pPr lvl="1"/>
            <a:r>
              <a:rPr lang="en-IN" sz="1800" b="1" dirty="0"/>
              <a:t>Step 2</a:t>
            </a:r>
          </a:p>
          <a:p>
            <a:pPr lvl="2"/>
            <a:r>
              <a:rPr lang="en-IN" sz="1600" dirty="0"/>
              <a:t>3-view capture</a:t>
            </a:r>
          </a:p>
          <a:p>
            <a:pPr lvl="2"/>
            <a:r>
              <a:rPr lang="en-IN" sz="1600" dirty="0"/>
              <a:t>front </a:t>
            </a:r>
          </a:p>
          <a:p>
            <a:pPr lvl="2"/>
            <a:r>
              <a:rPr lang="en-IN" sz="1600" dirty="0"/>
              <a:t>left </a:t>
            </a:r>
          </a:p>
          <a:p>
            <a:pPr lvl="2"/>
            <a:r>
              <a:rPr lang="en-IN" sz="1600" dirty="0"/>
              <a:t>right </a:t>
            </a:r>
          </a:p>
          <a:p>
            <a:pPr lvl="1"/>
            <a:r>
              <a:rPr lang="en-IN" sz="1800" b="1" dirty="0"/>
              <a:t>Step 3</a:t>
            </a:r>
          </a:p>
          <a:p>
            <a:pPr lvl="2"/>
            <a:r>
              <a:rPr lang="en-IN" sz="1600" dirty="0"/>
              <a:t>Landmark detection</a:t>
            </a:r>
            <a:br>
              <a:rPr lang="en-IN" sz="1600" dirty="0"/>
            </a:br>
            <a:r>
              <a:rPr lang="en-IN" sz="1600" dirty="0"/>
              <a:t>33 pose </a:t>
            </a:r>
            <a:r>
              <a:rPr lang="en-IN" sz="1600" dirty="0" err="1"/>
              <a:t>keypoints</a:t>
            </a:r>
            <a:endParaRPr lang="en-IN" sz="1600" dirty="0"/>
          </a:p>
          <a:p>
            <a:pPr lvl="1"/>
            <a:r>
              <a:rPr lang="en-IN" sz="1800" b="1" dirty="0"/>
              <a:t>Step 4</a:t>
            </a:r>
          </a:p>
          <a:p>
            <a:pPr lvl="2"/>
            <a:r>
              <a:rPr lang="en-IN" sz="1600" dirty="0"/>
              <a:t>Silhouette extraction</a:t>
            </a:r>
            <a:br>
              <a:rPr lang="en-IN" sz="1600" dirty="0"/>
            </a:br>
            <a:r>
              <a:rPr lang="en-IN" sz="1600" dirty="0"/>
              <a:t>torso + limb metrics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8C5370-472F-C841-124C-7465246B04D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1"/>
            <a:r>
              <a:rPr lang="en-IN" sz="1800" b="1" dirty="0"/>
              <a:t>Step 5</a:t>
            </a:r>
          </a:p>
          <a:p>
            <a:pPr lvl="2"/>
            <a:r>
              <a:rPr lang="en-IN" sz="1600" dirty="0"/>
              <a:t>Geometric reconstruction</a:t>
            </a:r>
            <a:br>
              <a:rPr lang="en-IN" sz="1600" dirty="0"/>
            </a:br>
            <a:r>
              <a:rPr lang="en-IN" sz="1600" dirty="0"/>
              <a:t>ellipse approximation</a:t>
            </a:r>
          </a:p>
          <a:p>
            <a:pPr lvl="1"/>
            <a:r>
              <a:rPr lang="en-IN" sz="1800" b="1" dirty="0"/>
              <a:t>Step 6</a:t>
            </a:r>
          </a:p>
          <a:p>
            <a:pPr lvl="2"/>
            <a:r>
              <a:rPr lang="en-IN" sz="1600" dirty="0"/>
              <a:t>Storage + analytics</a:t>
            </a:r>
          </a:p>
          <a:p>
            <a:endParaRPr lang="en-IN" dirty="0"/>
          </a:p>
        </p:txBody>
      </p:sp>
      <p:sp>
        <p:nvSpPr>
          <p:cNvPr id="1026" name="AutoShape 2" descr="Proposed framework for brain tumor detection.">
            <a:extLst>
              <a:ext uri="{FF2B5EF4-FFF2-40B4-BE49-F238E27FC236}">
                <a16:creationId xmlns:a16="http://schemas.microsoft.com/office/drawing/2014/main" id="{687E0519-348F-F35A-9E5F-6335ED48A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roposed framework for brain tumor detection.">
            <a:extLst>
              <a:ext uri="{FF2B5EF4-FFF2-40B4-BE49-F238E27FC236}">
                <a16:creationId xmlns:a16="http://schemas.microsoft.com/office/drawing/2014/main" id="{AF075AAE-AD80-F431-5499-2091005778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1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D835-E91A-E55A-4C4D-8A5F7A6C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610733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Technology Stack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9C7C2-6ED3-6C5A-3D69-3D16C6DA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648183"/>
            <a:ext cx="8915400" cy="4868382"/>
          </a:xfrm>
        </p:spPr>
        <p:txBody>
          <a:bodyPr/>
          <a:lstStyle/>
          <a:p>
            <a:r>
              <a:rPr lang="en-IN" sz="2400" b="1" dirty="0"/>
              <a:t>Frontend:</a:t>
            </a:r>
          </a:p>
          <a:p>
            <a:pPr lvl="1"/>
            <a:r>
              <a:rPr lang="en-IN" sz="1800" dirty="0"/>
              <a:t>React</a:t>
            </a:r>
          </a:p>
          <a:p>
            <a:pPr lvl="1"/>
            <a:r>
              <a:rPr lang="en-IN" sz="1800" dirty="0"/>
              <a:t>TypeScript</a:t>
            </a:r>
          </a:p>
          <a:p>
            <a:pPr lvl="1"/>
            <a:r>
              <a:rPr lang="en-IN" sz="1800" dirty="0" err="1"/>
              <a:t>TailwindCSS</a:t>
            </a:r>
            <a:endParaRPr lang="en-IN" sz="1800" dirty="0"/>
          </a:p>
          <a:p>
            <a:pPr lvl="1"/>
            <a:r>
              <a:rPr lang="en-IN" sz="1800" dirty="0" err="1"/>
              <a:t>TanStack</a:t>
            </a:r>
            <a:r>
              <a:rPr lang="en-IN" sz="1800" dirty="0"/>
              <a:t> Query</a:t>
            </a:r>
          </a:p>
          <a:p>
            <a:r>
              <a:rPr lang="en-IN" sz="2400" b="1" dirty="0"/>
              <a:t>Backend:</a:t>
            </a:r>
          </a:p>
          <a:p>
            <a:pPr lvl="1"/>
            <a:r>
              <a:rPr lang="en-IN" sz="1800" dirty="0" err="1"/>
              <a:t>FastAPI</a:t>
            </a:r>
            <a:endParaRPr lang="en-IN" sz="1800" dirty="0"/>
          </a:p>
          <a:p>
            <a:pPr lvl="1"/>
            <a:r>
              <a:rPr lang="en-IN" sz="1800" dirty="0"/>
              <a:t>Python</a:t>
            </a:r>
          </a:p>
          <a:p>
            <a:pPr lvl="1"/>
            <a:r>
              <a:rPr lang="en-IN" sz="1800" dirty="0"/>
              <a:t>Computer Vision:</a:t>
            </a:r>
          </a:p>
          <a:p>
            <a:pPr lvl="1"/>
            <a:r>
              <a:rPr lang="en-IN" sz="1800" dirty="0"/>
              <a:t>OpenCV</a:t>
            </a:r>
          </a:p>
          <a:p>
            <a:pPr lvl="1"/>
            <a:r>
              <a:rPr lang="en-IN" sz="1800" dirty="0" err="1"/>
              <a:t>MediaPipe</a:t>
            </a:r>
            <a:endParaRPr lang="en-IN" sz="1800" dirty="0"/>
          </a:p>
          <a:p>
            <a:pPr lvl="1"/>
            <a:r>
              <a:rPr lang="en-IN" sz="1800" dirty="0"/>
              <a:t>NumPy</a:t>
            </a:r>
          </a:p>
          <a:p>
            <a:r>
              <a:rPr lang="en-IN" sz="2400" b="1" dirty="0"/>
              <a:t>Database:</a:t>
            </a:r>
          </a:p>
          <a:p>
            <a:pPr lvl="1"/>
            <a:r>
              <a:rPr lang="en-IN" sz="1800" dirty="0" err="1"/>
              <a:t>Supabase</a:t>
            </a:r>
            <a:r>
              <a:rPr lang="en-IN" sz="1800" dirty="0"/>
              <a:t> PostgreSQL</a:t>
            </a:r>
          </a:p>
          <a:p>
            <a:r>
              <a:rPr lang="en-IN" sz="2400" b="1" dirty="0"/>
              <a:t>Visualization:</a:t>
            </a:r>
          </a:p>
          <a:p>
            <a:pPr lvl="1"/>
            <a:r>
              <a:rPr lang="en-IN" sz="1800" dirty="0"/>
              <a:t>Recharts</a:t>
            </a:r>
          </a:p>
        </p:txBody>
      </p:sp>
    </p:spTree>
    <p:extLst>
      <p:ext uri="{BB962C8B-B14F-4D97-AF65-F5344CB8AC3E}">
        <p14:creationId xmlns:p14="http://schemas.microsoft.com/office/powerpoint/2010/main" val="4079718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Testing and Validation</a:t>
            </a:r>
            <a:endParaRPr sz="3600" b="1" dirty="0">
              <a:solidFill>
                <a:srgbClr val="0070C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14954-1599-F5EE-5B2F-AAE0007C2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868101"/>
            <a:ext cx="4375150" cy="5258063"/>
          </a:xfrm>
        </p:spPr>
        <p:txBody>
          <a:bodyPr/>
          <a:lstStyle/>
          <a:p>
            <a:r>
              <a:rPr lang="en-IN" sz="2400" b="1" dirty="0"/>
              <a:t>Validation approach:</a:t>
            </a:r>
          </a:p>
          <a:p>
            <a:pPr lvl="1"/>
            <a:r>
              <a:rPr lang="en-IN" dirty="0"/>
              <a:t>repeated scans</a:t>
            </a:r>
          </a:p>
          <a:p>
            <a:pPr lvl="1"/>
            <a:r>
              <a:rPr lang="en-IN" dirty="0"/>
              <a:t>manual tape comparison</a:t>
            </a:r>
          </a:p>
          <a:p>
            <a:pPr lvl="1"/>
            <a:r>
              <a:rPr lang="en-IN" dirty="0"/>
              <a:t>consistency analysis</a:t>
            </a:r>
          </a:p>
          <a:p>
            <a:pPr lvl="1"/>
            <a:r>
              <a:rPr lang="en-IN" dirty="0"/>
              <a:t>unit testing</a:t>
            </a:r>
          </a:p>
          <a:p>
            <a:pPr lvl="1"/>
            <a:r>
              <a:rPr lang="en-IN" dirty="0"/>
              <a:t>integration testing</a:t>
            </a:r>
          </a:p>
          <a:p>
            <a:r>
              <a:rPr lang="en-IN" sz="2400" b="1" dirty="0"/>
              <a:t>Metrics validated:</a:t>
            </a:r>
          </a:p>
          <a:p>
            <a:pPr lvl="1"/>
            <a:r>
              <a:rPr lang="en-IN" dirty="0"/>
              <a:t>arm girth</a:t>
            </a:r>
          </a:p>
          <a:p>
            <a:pPr lvl="1"/>
            <a:r>
              <a:rPr lang="en-IN" dirty="0"/>
              <a:t>thigh girth</a:t>
            </a:r>
          </a:p>
          <a:p>
            <a:pPr lvl="1"/>
            <a:r>
              <a:rPr lang="en-IN" dirty="0"/>
              <a:t>chest</a:t>
            </a:r>
          </a:p>
          <a:p>
            <a:pPr lvl="1"/>
            <a:r>
              <a:rPr lang="en-IN" dirty="0"/>
              <a:t>waist</a:t>
            </a:r>
          </a:p>
          <a:p>
            <a:pPr lvl="1"/>
            <a:r>
              <a:rPr lang="en-IN" dirty="0"/>
              <a:t>hip</a:t>
            </a:r>
          </a:p>
          <a:p>
            <a:pPr lvl="1"/>
            <a:r>
              <a:rPr lang="en-IN" dirty="0"/>
              <a:t>symmetry metrics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F336D4-1336-06EE-CDF1-FE275443E0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35550" y="1030147"/>
            <a:ext cx="4375150" cy="5096017"/>
          </a:xfr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Current Working Results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087C1-3D5E-9311-4DB4-53AB59A6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Current Working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A5A674-6D32-B8E2-0B39-CA734D8D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02825"/>
            <a:ext cx="4952999" cy="2526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00823A-EE53-999D-00E5-0EA21C65D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902825"/>
            <a:ext cx="4953000" cy="2526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5DB67E-17B4-B775-4C97-49D90210E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4952998" cy="26312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1F8703-3386-BD1A-8638-96F67912A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998" y="3429000"/>
            <a:ext cx="4953002" cy="26312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FCE806C-D84D-15CA-F479-56E9733305DB}"/>
              </a:ext>
            </a:extLst>
          </p:cNvPr>
          <p:cNvSpPr txBox="1"/>
          <p:nvPr/>
        </p:nvSpPr>
        <p:spPr>
          <a:xfrm>
            <a:off x="495300" y="6060281"/>
            <a:ext cx="753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 dirty="0"/>
              <a:t>Metrics: chest girth, waist girth, hip girth, arm symmetry, thigh symmetry</a:t>
            </a:r>
          </a:p>
        </p:txBody>
      </p:sp>
    </p:spTree>
    <p:extLst>
      <p:ext uri="{BB962C8B-B14F-4D97-AF65-F5344CB8AC3E}">
        <p14:creationId xmlns:p14="http://schemas.microsoft.com/office/powerpoint/2010/main" val="3514198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D22-65BF-D221-25B6-89C2F6DB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Result Analysis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5556F-1CF8-4F94-3318-9FF80243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122745"/>
            <a:ext cx="8915400" cy="5003420"/>
          </a:xfrm>
        </p:spPr>
        <p:txBody>
          <a:bodyPr/>
          <a:lstStyle/>
          <a:p>
            <a:r>
              <a:rPr lang="en-US" sz="2400" b="1" dirty="0"/>
              <a:t>Observations:</a:t>
            </a:r>
          </a:p>
          <a:p>
            <a:pPr lvl="1"/>
            <a:r>
              <a:rPr lang="en-US" sz="2000" dirty="0"/>
              <a:t>pose detection stable</a:t>
            </a:r>
          </a:p>
          <a:p>
            <a:pPr lvl="1"/>
            <a:r>
              <a:rPr lang="en-US" sz="2000" dirty="0"/>
              <a:t>multi-view reconstruction feasible</a:t>
            </a:r>
          </a:p>
          <a:p>
            <a:pPr lvl="1"/>
            <a:r>
              <a:rPr lang="en-US" sz="2000" dirty="0"/>
              <a:t>repeated measurements show reasonable consistency</a:t>
            </a:r>
          </a:p>
          <a:p>
            <a:pPr lvl="1"/>
            <a:r>
              <a:rPr lang="en-US" sz="2000" dirty="0"/>
              <a:t>dashboard analytics functioning</a:t>
            </a:r>
          </a:p>
          <a:p>
            <a:pPr lvl="1"/>
            <a:r>
              <a:rPr lang="en-US" sz="2000" dirty="0"/>
              <a:t>pseudo-3D girth estimation successful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Limitations:</a:t>
            </a:r>
          </a:p>
          <a:p>
            <a:pPr lvl="1"/>
            <a:r>
              <a:rPr lang="en-US" sz="2000" dirty="0"/>
              <a:t>lighting sensitivity</a:t>
            </a:r>
          </a:p>
          <a:p>
            <a:pPr lvl="1"/>
            <a:r>
              <a:rPr lang="en-US" sz="2000" dirty="0"/>
              <a:t>pose dependency</a:t>
            </a:r>
          </a:p>
          <a:p>
            <a:pPr lvl="1"/>
            <a:r>
              <a:rPr lang="en-US" sz="2000" dirty="0"/>
              <a:t>calibration sensitivity</a:t>
            </a:r>
          </a:p>
          <a:p>
            <a:pPr lvl="1"/>
            <a:r>
              <a:rPr lang="en-US" sz="2000" dirty="0"/>
              <a:t>measurement noise</a:t>
            </a:r>
          </a:p>
        </p:txBody>
      </p:sp>
    </p:spTree>
    <p:extLst>
      <p:ext uri="{BB962C8B-B14F-4D97-AF65-F5344CB8AC3E}">
        <p14:creationId xmlns:p14="http://schemas.microsoft.com/office/powerpoint/2010/main" val="64664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9A94-561C-2CC8-AC08-3F637A68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Live Demonstration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8B521-15E8-C142-09FD-46969352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demonstration or walkthrough of the working modules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205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BC83-7355-6A22-7EE4-A47BD729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Conclusion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72697-2E76-4619-D7A9-67319E82B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i="1" dirty="0"/>
              <a:t>NeoFit</a:t>
            </a:r>
            <a:r>
              <a:rPr lang="en-US" sz="2800" b="1" dirty="0"/>
              <a:t> demonstrates:</a:t>
            </a:r>
          </a:p>
          <a:p>
            <a:pPr lvl="1"/>
            <a:r>
              <a:rPr lang="en-US" sz="2400" dirty="0"/>
              <a:t>affordable AI-assisted body measurement </a:t>
            </a:r>
          </a:p>
          <a:p>
            <a:pPr lvl="1"/>
            <a:r>
              <a:rPr lang="en-US" sz="2400" dirty="0"/>
              <a:t>multi-view pseudo-3D reconstruction </a:t>
            </a:r>
          </a:p>
          <a:p>
            <a:pPr lvl="1"/>
            <a:r>
              <a:rPr lang="en-US" sz="2400" dirty="0"/>
              <a:t>automated fitness analytics </a:t>
            </a:r>
          </a:p>
          <a:p>
            <a:pPr lvl="1"/>
            <a:r>
              <a:rPr lang="en-US" sz="2400" dirty="0"/>
              <a:t>longitudinal progress tracking 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Contribution:</a:t>
            </a:r>
            <a:br>
              <a:rPr lang="en-US" sz="2400" dirty="0"/>
            </a:br>
            <a:r>
              <a:rPr lang="en-US" sz="2400" dirty="0"/>
              <a:t>	bridging computer vision + fitness analytics.</a:t>
            </a:r>
          </a:p>
        </p:txBody>
      </p:sp>
    </p:spTree>
    <p:extLst>
      <p:ext uri="{BB962C8B-B14F-4D97-AF65-F5344CB8AC3E}">
        <p14:creationId xmlns:p14="http://schemas.microsoft.com/office/powerpoint/2010/main" val="2196803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Future Scope</a:t>
            </a:r>
            <a:endParaRPr sz="3600" b="1" dirty="0">
              <a:solidFill>
                <a:srgbClr val="0070C0"/>
              </a:solidFill>
            </a:endParaRPr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1"/>
          </p:nvPr>
        </p:nvSpPr>
        <p:spPr>
          <a:xfrm>
            <a:off x="495300" y="1466850"/>
            <a:ext cx="8915400" cy="465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800" b="1" dirty="0"/>
              <a:t>Future enhancement:</a:t>
            </a:r>
          </a:p>
          <a:p>
            <a:pPr lvl="1"/>
            <a:r>
              <a:rPr lang="en-US" dirty="0"/>
              <a:t>improved calibration</a:t>
            </a:r>
          </a:p>
          <a:p>
            <a:pPr lvl="1"/>
            <a:r>
              <a:rPr lang="en-US" dirty="0"/>
              <a:t>mobile deployment</a:t>
            </a:r>
          </a:p>
          <a:p>
            <a:pPr lvl="1"/>
            <a:r>
              <a:rPr lang="en-US" dirty="0"/>
              <a:t>personalized AI coach</a:t>
            </a:r>
          </a:p>
          <a:p>
            <a:pPr lvl="1"/>
            <a:r>
              <a:rPr lang="en-US" dirty="0"/>
              <a:t>advanced forecasting</a:t>
            </a:r>
          </a:p>
          <a:p>
            <a:pPr lvl="1"/>
            <a:r>
              <a:rPr lang="en-US" dirty="0"/>
              <a:t>body composition estimation</a:t>
            </a:r>
          </a:p>
          <a:p>
            <a:pPr lvl="1"/>
            <a:r>
              <a:rPr lang="en-US" dirty="0"/>
              <a:t>exercise recommendation engine</a:t>
            </a:r>
          </a:p>
          <a:p>
            <a:pPr lvl="1"/>
            <a:r>
              <a:rPr lang="en-US" dirty="0"/>
              <a:t>larger validation dataset</a:t>
            </a:r>
          </a:p>
          <a:p>
            <a:pPr lvl="1" algn="just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46048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B3F04EC-EC00-BFA6-6219-33A8CB46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>
            <a:extLst>
              <a:ext uri="{FF2B5EF4-FFF2-40B4-BE49-F238E27FC236}">
                <a16:creationId xmlns:a16="http://schemas.microsoft.com/office/drawing/2014/main" id="{ED6BC8BE-C7A1-02A9-1A35-B008FE057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Future Scope</a:t>
            </a:r>
            <a:endParaRPr sz="3600" b="1" dirty="0">
              <a:solidFill>
                <a:srgbClr val="0070C0"/>
              </a:solidFill>
            </a:endParaRPr>
          </a:p>
        </p:txBody>
      </p:sp>
      <p:sp>
        <p:nvSpPr>
          <p:cNvPr id="132" name="Google Shape;132;p11">
            <a:extLst>
              <a:ext uri="{FF2B5EF4-FFF2-40B4-BE49-F238E27FC236}">
                <a16:creationId xmlns:a16="http://schemas.microsoft.com/office/drawing/2014/main" id="{385AE738-BE62-B388-49EA-CF2F377D6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466850"/>
            <a:ext cx="8915400" cy="465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dirty="0"/>
              <a:t>SDG 3 — Good Health &amp; Well-being</a:t>
            </a:r>
            <a:br>
              <a:rPr lang="en-US" sz="2800" dirty="0"/>
            </a:br>
            <a:r>
              <a:rPr lang="en-US" sz="2800" dirty="0"/>
              <a:t>SDG 9 — Industry Innovation</a:t>
            </a:r>
            <a:br>
              <a:rPr lang="en-US" sz="2800" dirty="0"/>
            </a:br>
            <a:r>
              <a:rPr lang="en-US" sz="2800" dirty="0"/>
              <a:t>SDG 4 — Quality Education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25873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918572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200" b="1" dirty="0">
                <a:solidFill>
                  <a:srgbClr val="0070C0"/>
                </a:solidFill>
              </a:rPr>
              <a:t>R</a:t>
            </a:r>
            <a:r>
              <a:rPr lang="en-US" sz="3600" b="1" dirty="0">
                <a:solidFill>
                  <a:srgbClr val="0070C0"/>
                </a:solidFill>
              </a:rPr>
              <a:t>eferences</a:t>
            </a:r>
            <a:endParaRPr sz="3600" b="1" dirty="0">
              <a:solidFill>
                <a:srgbClr val="0070C0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0C2E43-AB03-6032-9D6A-F2DBDC931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600" y="613458"/>
            <a:ext cx="9185729" cy="6485163"/>
          </a:xfrm>
        </p:spPr>
        <p:txBody>
          <a:bodyPr/>
          <a:lstStyle/>
          <a:p>
            <a:pPr marL="25400" indent="0" algn="just">
              <a:buNone/>
            </a:pPr>
            <a:r>
              <a:rPr lang="en-IN" sz="1800" dirty="0"/>
              <a:t>[1] H. </a:t>
            </a:r>
            <a:r>
              <a:rPr lang="en-IN" sz="1800" dirty="0" err="1"/>
              <a:t>Mohammedkhan</a:t>
            </a:r>
            <a:r>
              <a:rPr lang="en-IN" sz="1800" dirty="0"/>
              <a:t>, H. </a:t>
            </a:r>
            <a:r>
              <a:rPr lang="en-IN" sz="1800" dirty="0" err="1"/>
              <a:t>Fleuren</a:t>
            </a:r>
            <a:r>
              <a:rPr lang="en-IN" sz="1800" dirty="0"/>
              <a:t>, Ç. Güven, and E. Postma, “Inferring Body Measurements from 2D Images: A Comprehensive Review,” </a:t>
            </a:r>
            <a:r>
              <a:rPr lang="en-IN" sz="1800" i="1" dirty="0"/>
              <a:t>Journal of Imaging</a:t>
            </a:r>
            <a:r>
              <a:rPr lang="en-IN" sz="1800" dirty="0"/>
              <a:t>, vol. 11, no. 6, p. 205, 2025, </a:t>
            </a:r>
            <a:r>
              <a:rPr lang="en-IN" sz="1800" dirty="0" err="1"/>
              <a:t>doi</a:t>
            </a:r>
            <a:r>
              <a:rPr lang="en-IN" sz="1800" dirty="0"/>
              <a:t>: 10.3390/jimaging11060205.</a:t>
            </a:r>
          </a:p>
          <a:p>
            <a:pPr marL="25400" indent="0" algn="just">
              <a:buNone/>
            </a:pPr>
            <a:r>
              <a:rPr lang="en-IN" sz="1800" dirty="0"/>
              <a:t>[2] A. Nana, J. M. D. </a:t>
            </a:r>
            <a:r>
              <a:rPr lang="en-IN" sz="1800" dirty="0" err="1"/>
              <a:t>Staynor</a:t>
            </a:r>
            <a:r>
              <a:rPr lang="en-IN" sz="1800" dirty="0"/>
              <a:t>, S. Arlai, A. El-Sallam, N. Dhungel, and M. K. Smith, “Agreement of Anthropometric and Body Composition Measures Predicted from 2D Smartphone Images with Criterion Methods,” </a:t>
            </a:r>
            <a:r>
              <a:rPr lang="en-IN" sz="1800" i="1" dirty="0"/>
              <a:t>Obesity Research &amp; Clinical Practice</a:t>
            </a:r>
            <a:r>
              <a:rPr lang="en-IN" sz="1800" dirty="0"/>
              <a:t>, vol. 16, no. 1, pp. 37–43, 2022, </a:t>
            </a:r>
            <a:r>
              <a:rPr lang="en-IN" sz="1800" dirty="0" err="1"/>
              <a:t>doi</a:t>
            </a:r>
            <a:r>
              <a:rPr lang="en-IN" sz="1800" dirty="0"/>
              <a:t>: 10.1016/j.orcp.2021.12.006.</a:t>
            </a:r>
          </a:p>
          <a:p>
            <a:pPr marL="25400" indent="0" algn="just">
              <a:buNone/>
            </a:pPr>
            <a:r>
              <a:rPr lang="en-IN" sz="1800" dirty="0"/>
              <a:t>[3] S. Choudhary, G. Iyer, B. Smith, et al., “Development and Validation of a Smartphone Application for Measuring Waist-to-Hip Circumference Ratio,” </a:t>
            </a:r>
            <a:r>
              <a:rPr lang="en-IN" sz="1800" i="1" dirty="0" err="1"/>
              <a:t>npj</a:t>
            </a:r>
            <a:r>
              <a:rPr lang="en-IN" sz="1800" i="1" dirty="0"/>
              <a:t> Digital Medicine</a:t>
            </a:r>
            <a:r>
              <a:rPr lang="en-IN" sz="1800" dirty="0"/>
              <a:t>, vol. 6, p. 168, 2023.</a:t>
            </a:r>
          </a:p>
          <a:p>
            <a:pPr marL="25400" indent="0" algn="just">
              <a:buNone/>
            </a:pPr>
            <a:r>
              <a:rPr lang="en-IN" sz="1800" dirty="0"/>
              <a:t>[4] T. J. Ferreira, I. C. Salvador, C. R. Pessanha, et al., “Advances in the Estimation of Body Fat Percentage Using an Artificial Intelligence 2D-Photo Method,” </a:t>
            </a:r>
            <a:r>
              <a:rPr lang="en-IN" sz="1800" i="1" dirty="0" err="1"/>
              <a:t>npj</a:t>
            </a:r>
            <a:r>
              <a:rPr lang="en-IN" sz="1800" i="1" dirty="0"/>
              <a:t> Digital Medicine</a:t>
            </a:r>
            <a:r>
              <a:rPr lang="en-IN" sz="1800" dirty="0"/>
              <a:t>, vol. 8, p. 43, 2025.</a:t>
            </a:r>
          </a:p>
          <a:p>
            <a:pPr marL="25400" indent="0" algn="just">
              <a:buNone/>
            </a:pPr>
            <a:r>
              <a:rPr lang="en-IN" sz="1800" dirty="0"/>
              <a:t>[5] R. B. Gadhiya and N. B. Kalani, “2D Image Based Digital Anthropometry Using Deep Learning Approach,” </a:t>
            </a:r>
            <a:r>
              <a:rPr lang="en-IN" sz="1800" i="1" dirty="0"/>
              <a:t>International Journal of Intelligent Systems and Applications in Engineering</a:t>
            </a:r>
            <a:r>
              <a:rPr lang="en-IN" sz="1800" dirty="0"/>
              <a:t>, 2024.</a:t>
            </a:r>
          </a:p>
          <a:p>
            <a:pPr marL="25400" indent="0" algn="just">
              <a:buNone/>
            </a:pPr>
            <a:r>
              <a:rPr lang="en-IN" sz="1800" dirty="0"/>
              <a:t>[6] C. Qiao, E. De Lucia Rolfe, E. Mak, et al., “Prediction of Body Composition Using 2D Image-Derived 3D Meshes,” </a:t>
            </a:r>
            <a:r>
              <a:rPr lang="en-IN" sz="1800" i="1" dirty="0"/>
              <a:t>Clinical Nutrition ESPEN</a:t>
            </a:r>
            <a:r>
              <a:rPr lang="en-IN" sz="1800" dirty="0"/>
              <a:t>, vol. 59, pp. 107–112, 2024.</a:t>
            </a:r>
          </a:p>
          <a:p>
            <a:pPr marL="25400" indent="0" algn="just">
              <a:buNone/>
            </a:pPr>
            <a:r>
              <a:rPr lang="en-IN" sz="1800" dirty="0"/>
              <a:t>[7] “Sex-Based Approach to Estimate Human Body Fat Percentage from 2D Images with Deep Learning and Machine Learning,” </a:t>
            </a:r>
            <a:r>
              <a:rPr lang="en-IN" sz="1800" i="1" dirty="0"/>
              <a:t>Measurement</a:t>
            </a:r>
            <a:r>
              <a:rPr lang="en-IN" sz="1800" dirty="0"/>
              <a:t>, vol. 219, p. 113213, 2023, </a:t>
            </a:r>
            <a:r>
              <a:rPr lang="en-IN" sz="1800" dirty="0" err="1"/>
              <a:t>doi</a:t>
            </a:r>
            <a:r>
              <a:rPr lang="en-IN" sz="1800" dirty="0"/>
              <a:t>: 10.1016/j.measurement.2023.113213.</a:t>
            </a:r>
          </a:p>
          <a:p>
            <a:pPr marL="25400" indent="0" algn="just">
              <a:buNone/>
            </a:pPr>
            <a:endParaRPr lang="en-IN" sz="1800" dirty="0"/>
          </a:p>
          <a:p>
            <a:pPr marL="254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ctrTitle"/>
          </p:nvPr>
        </p:nvSpPr>
        <p:spPr>
          <a:xfrm>
            <a:off x="742950" y="264477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72" y="6714622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1206</Words>
  <Application>Microsoft Office PowerPoint</Application>
  <PresentationFormat>A4 Paper (210x297 mm)</PresentationFormat>
  <Paragraphs>231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B.Tech Final Project Presentation on AI-Based Multi-View Muscle Hypertrophy Tracking and Fitness Analytics System Using Computer Vision  </vt:lpstr>
      <vt:lpstr>Outline</vt:lpstr>
      <vt:lpstr>Problem Statement and Motivation</vt:lpstr>
      <vt:lpstr>Objectives</vt:lpstr>
      <vt:lpstr>Existing System</vt:lpstr>
      <vt:lpstr>Existing System</vt:lpstr>
      <vt:lpstr>Existing System</vt:lpstr>
      <vt:lpstr>Existing System</vt:lpstr>
      <vt:lpstr>Proposed System</vt:lpstr>
      <vt:lpstr>System Architecture/Block Diagram</vt:lpstr>
      <vt:lpstr>Methodology</vt:lpstr>
      <vt:lpstr>Technology Stack</vt:lpstr>
      <vt:lpstr>Testing and Validation</vt:lpstr>
      <vt:lpstr>Current Working Results</vt:lpstr>
      <vt:lpstr>Result Analysis</vt:lpstr>
      <vt:lpstr>Live Demonstration</vt:lpstr>
      <vt:lpstr>Conclusion</vt:lpstr>
      <vt:lpstr>Future Scope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Pre-Project Presentation Precision Brain Tumor Detection and Smart Report Generation Using Deep Learning Programme: B. Tech in CSE</dc:title>
  <dc:creator>Nethra</dc:creator>
  <cp:lastModifiedBy>Sives Sundar Manna</cp:lastModifiedBy>
  <cp:revision>37</cp:revision>
  <dcterms:created xsi:type="dcterms:W3CDTF">2014-10-09T06:35:03Z</dcterms:created>
  <dcterms:modified xsi:type="dcterms:W3CDTF">2026-06-03T06:42:35Z</dcterms:modified>
</cp:coreProperties>
</file>